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Inter"/>
      <p:bold r:id="rId24"/>
      <p:boldItalic r:id="rId25"/>
    </p:embeddedFont>
    <p:embeddedFont>
      <p:font typeface="JetBrains Mono SemiBold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  <p:embeddedFont>
      <p:font typeface="Inter Medium"/>
      <p:regular r:id="rId32"/>
      <p:bold r:id="rId33"/>
      <p:italic r:id="rId34"/>
      <p:boldItalic r:id="rId35"/>
    </p:embeddedFont>
    <p:embeddedFont>
      <p:font typeface="JetBrains Mono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Inter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JetBrainsMonoSemiBold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JetBrainsMonoSemiBold-italic.fntdata"/><Relationship Id="rId27" Type="http://schemas.openxmlformats.org/officeDocument/2006/relationships/font" Target="fonts/JetBrainsMonoSemiBol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JetBrainsMono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7.xml"/><Relationship Id="rId33" Type="http://schemas.openxmlformats.org/officeDocument/2006/relationships/font" Target="fonts/InterMedium-bold.fntdata"/><Relationship Id="rId10" Type="http://schemas.openxmlformats.org/officeDocument/2006/relationships/slide" Target="slides/slide6.xml"/><Relationship Id="rId32" Type="http://schemas.openxmlformats.org/officeDocument/2006/relationships/font" Target="fonts/InterMedium-regular.fntdata"/><Relationship Id="rId13" Type="http://schemas.openxmlformats.org/officeDocument/2006/relationships/slide" Target="slides/slide9.xml"/><Relationship Id="rId35" Type="http://schemas.openxmlformats.org/officeDocument/2006/relationships/font" Target="fonts/InterMedium-boldItalic.fntdata"/><Relationship Id="rId12" Type="http://schemas.openxmlformats.org/officeDocument/2006/relationships/slide" Target="slides/slide8.xml"/><Relationship Id="rId34" Type="http://schemas.openxmlformats.org/officeDocument/2006/relationships/font" Target="fonts/InterMedium-italic.fntdata"/><Relationship Id="rId15" Type="http://schemas.openxmlformats.org/officeDocument/2006/relationships/slide" Target="slides/slide11.xml"/><Relationship Id="rId37" Type="http://schemas.openxmlformats.org/officeDocument/2006/relationships/font" Target="fonts/JetBrainsMono-boldItalic.fntdata"/><Relationship Id="rId14" Type="http://schemas.openxmlformats.org/officeDocument/2006/relationships/slide" Target="slides/slide10.xml"/><Relationship Id="rId36" Type="http://schemas.openxmlformats.org/officeDocument/2006/relationships/font" Target="fonts/JetBrainsMono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20f28c95c_0_9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20f28c95c_0_9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20f28c95c_0_9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20f28c95c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e20f28c95c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e20f28c95c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411600" cy="51435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411600" cy="5143500"/>
          </a:xfrm>
          <a:prstGeom prst="rect">
            <a:avLst/>
          </a:prstGeom>
          <a:solidFill>
            <a:srgbClr val="00C5A1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7225" y="762000"/>
            <a:ext cx="7153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658368" y="731520"/>
            <a:ext cx="7772400" cy="173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Command</a:t>
            </a:r>
            <a:endParaRPr b="0" sz="110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58368" y="2990850"/>
            <a:ext cx="6400800" cy="381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58368" y="3190875"/>
            <a:ext cx="1714500" cy="3810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58368" y="3190875"/>
            <a:ext cx="1714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rPr>
              <a:t>Behavioral</a:t>
            </a:r>
            <a:endParaRPr b="1" sz="1400">
              <a:solidFill>
                <a:srgbClr val="0D1B2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58368" y="371475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95">
                <a:solidFill>
                  <a:srgbClr val="00C5A1"/>
                </a:solidFill>
                <a:latin typeface="Inter"/>
                <a:ea typeface="Inter"/>
                <a:cs typeface="Inter"/>
                <a:sym typeface="Inter"/>
              </a:rPr>
              <a:t>Design Patterns </a:t>
            </a:r>
            <a:endParaRPr b="0" sz="1395">
              <a:solidFill>
                <a:srgbClr val="00C5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sz="93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5F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438912" y="9144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5A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5A1"/>
                </a:solidFill>
                <a:latin typeface="Calibri"/>
                <a:ea typeface="Calibri"/>
                <a:cs typeface="Calibri"/>
                <a:sym typeface="Calibri"/>
              </a:rPr>
              <a:t>01 — PROBLEM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38912" y="29260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Sabah 8'i. Kafe yeni açıldı.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" name="Google Shape;32;p4"/>
          <p:cNvGrpSpPr/>
          <p:nvPr/>
        </p:nvGrpSpPr>
        <p:grpSpPr>
          <a:xfrm>
            <a:off x="285750" y="857250"/>
            <a:ext cx="8572650" cy="3429000"/>
            <a:chOff x="285750" y="857250"/>
            <a:chExt cx="8572650" cy="3429000"/>
          </a:xfrm>
        </p:grpSpPr>
        <p:sp>
          <p:nvSpPr>
            <p:cNvPr id="33" name="Google Shape;33;p4"/>
            <p:cNvSpPr/>
            <p:nvPr/>
          </p:nvSpPr>
          <p:spPr>
            <a:xfrm>
              <a:off x="285750" y="8572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85750" y="857250"/>
              <a:ext cx="95400" cy="3429000"/>
            </a:xfrm>
            <a:prstGeom prst="roundRect">
              <a:avLst>
                <a:gd fmla="val 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762500" y="8572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00C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4762500" y="857250"/>
              <a:ext cx="95400" cy="3429000"/>
            </a:xfrm>
            <a:prstGeom prst="roundRect">
              <a:avLst>
                <a:gd fmla="val 0" name="adj"/>
              </a:avLst>
            </a:prstGeom>
            <a:solidFill>
              <a:srgbClr val="00C5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4"/>
          <p:cNvSpPr/>
          <p:nvPr/>
        </p:nvSpPr>
        <p:spPr>
          <a:xfrm>
            <a:off x="523875" y="952500"/>
            <a:ext cx="3657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✕ Kötü Yönetilen Kafe</a:t>
            </a:r>
            <a:endParaRPr b="1" sz="1600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23875" y="1428750"/>
            <a:ext cx="3619500" cy="2190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Müşteri içeri giriyor,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doğrudan mutfağa yürüyor.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Aşçıya siparişini söylüyor.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Başka müşteri de aynısını yapıyor.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Aşçı hem sipariş alıyor,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hem kahve yapıyor,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hem kasaya bakıyor.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23875" y="3714750"/>
            <a:ext cx="361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→ Kaos.</a:t>
            </a:r>
            <a:endParaRPr b="1" sz="1400">
              <a:solidFill>
                <a:srgbClr val="EF44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00625" y="952500"/>
            <a:ext cx="3657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B7D"/>
                </a:solidFill>
                <a:latin typeface="Calibri"/>
                <a:ea typeface="Calibri"/>
                <a:cs typeface="Calibri"/>
                <a:sym typeface="Calibri"/>
              </a:rPr>
              <a:t>✓ İyi Yönetilen Kafe</a:t>
            </a:r>
            <a:endParaRPr b="1" sz="1600">
              <a:solidFill>
                <a:srgbClr val="009B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00625" y="1428750"/>
            <a:ext cx="3619500" cy="161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Müşteri garsonla konuşuyor.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Garson siparişi kâğıda yazıyor.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Kâğıdı mutfak tezgahına koyuyor.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Aşçı sadece kâğıtlara bakarak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kahve yapıyor.</a:t>
            </a:r>
            <a:endParaRPr b="0"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000625" y="3143250"/>
            <a:ext cx="3619500" cy="96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5000625" y="3238500"/>
            <a:ext cx="3619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26B57"/>
                </a:solidFill>
                <a:latin typeface="Calibri"/>
                <a:ea typeface="Calibri"/>
                <a:cs typeface="Calibri"/>
                <a:sym typeface="Calibri"/>
              </a:rPr>
              <a:t>Garson aşçıyı tanımaz.</a:t>
            </a:r>
            <a:endParaRPr b="0" sz="1100">
              <a:solidFill>
                <a:srgbClr val="026B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26B57"/>
                </a:solidFill>
                <a:latin typeface="Calibri"/>
                <a:ea typeface="Calibri"/>
                <a:cs typeface="Calibri"/>
                <a:sym typeface="Calibri"/>
              </a:rPr>
              <a:t>Aşçı müşteriyi tanımaz.</a:t>
            </a:r>
            <a:endParaRPr b="0" sz="1100">
              <a:solidFill>
                <a:srgbClr val="026B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00625" y="3714750"/>
            <a:ext cx="361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9B7D"/>
                </a:solidFill>
                <a:latin typeface="Calibri"/>
                <a:ea typeface="Calibri"/>
                <a:cs typeface="Calibri"/>
                <a:sym typeface="Calibri"/>
              </a:rPr>
              <a:t>→ Düzen.</a:t>
            </a:r>
            <a:endParaRPr b="1" sz="1400">
              <a:solidFill>
                <a:srgbClr val="009B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92608" y="4524375"/>
            <a:ext cx="85587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292608" y="4524375"/>
            <a:ext cx="8558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C5A1"/>
                </a:solidFill>
                <a:latin typeface="Calibri"/>
                <a:ea typeface="Calibri"/>
                <a:cs typeface="Calibri"/>
                <a:sym typeface="Calibri"/>
              </a:rPr>
              <a:t>O kâğıt. İşte o kâğıt =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 nesnesi.</a:t>
            </a:r>
            <a:endParaRPr b="1" sz="1600">
              <a:solidFill>
                <a:srgbClr val="00C5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4381500" y="2368677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C5A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trending_flat</a:t>
            </a:r>
            <a:endParaRPr sz="2400">
              <a:solidFill>
                <a:srgbClr val="00C5A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38912" y="190500"/>
            <a:ext cx="54864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C5A1"/>
                </a:solidFill>
                <a:latin typeface="Inter"/>
                <a:ea typeface="Inter"/>
                <a:cs typeface="Inter"/>
                <a:sym typeface="Inter"/>
              </a:rPr>
              <a:t>02 — DAHA FAZLA ANALOJI</a:t>
            </a:r>
            <a:endParaRPr b="1" sz="900">
              <a:solidFill>
                <a:srgbClr val="00C5A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38912" y="428625"/>
            <a:ext cx="822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Günlük Hayatta Her Yerde Var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81000" y="1047750"/>
            <a:ext cx="4095900" cy="361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9CA3AF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143125" y="123825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🏦</a:t>
            </a:r>
            <a:endParaRPr sz="3200"/>
          </a:p>
        </p:txBody>
      </p:sp>
      <p:sp>
        <p:nvSpPr>
          <p:cNvPr id="59" name="Google Shape;59;p5"/>
          <p:cNvSpPr/>
          <p:nvPr/>
        </p:nvSpPr>
        <p:spPr>
          <a:xfrm>
            <a:off x="571500" y="1857375"/>
            <a:ext cx="371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Banka Havalesi Talimatı</a:t>
            </a:r>
            <a:endParaRPr b="1" sz="1600">
              <a:solidFill>
                <a:srgbClr val="7C3AE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66750" y="2286000"/>
            <a:ext cx="3524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Bankaya gidiyorsun.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"Her ayın 1'inde şu hesaba 500 lira gönder" diyorsun.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Talimat formunu dolduruyorsun. Eve dönüyorsun.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Tatile gidiyorsun. Ayın 1'i gelince banka sistemi o formu alıp işlemi yapıyor.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71500" y="3619500"/>
            <a:ext cx="3714900" cy="5715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66750" y="3667125"/>
            <a:ext cx="3524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5B21B6"/>
                </a:solidFill>
                <a:latin typeface="Inter Medium"/>
                <a:ea typeface="Inter Medium"/>
                <a:cs typeface="Inter Medium"/>
                <a:sym typeface="Inter Medium"/>
              </a:rPr>
              <a:t>Sen orada olmak zorunda değilsin. İşlem nesneleşti, zamandan bağımsız hale geldi.</a:t>
            </a:r>
            <a:endParaRPr b="0" i="1" sz="1000">
              <a:solidFill>
                <a:srgbClr val="5B21B6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81000" y="4333875"/>
            <a:ext cx="1714500" cy="30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81000" y="4333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Scheduling (Zamanlama)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67250" y="1047750"/>
            <a:ext cx="4095900" cy="361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9CA3AF">
                <a:alpha val="1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6429375" y="1238250"/>
            <a:ext cx="57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📦</a:t>
            </a:r>
            <a:endParaRPr sz="3200"/>
          </a:p>
        </p:txBody>
      </p:sp>
      <p:sp>
        <p:nvSpPr>
          <p:cNvPr id="67" name="Google Shape;67;p5"/>
          <p:cNvSpPr/>
          <p:nvPr/>
        </p:nvSpPr>
        <p:spPr>
          <a:xfrm>
            <a:off x="4857750" y="1857375"/>
            <a:ext cx="371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Online Alışveriş Siparişi</a:t>
            </a:r>
            <a:endParaRPr b="1" sz="1600">
              <a:solidFill>
                <a:srgbClr val="D9770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953000" y="2286000"/>
            <a:ext cx="35244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"Satın Al"a basıyorsun. Bir sipariş nesnesi oluşuyor.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İçerik: kim, ne, ödeme, adres, zaman damgası.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 nesne bir kuyruğa giriyor. Depo, kargo, muhasebe, SMS...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b="0" lang="en-US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Her biri o nesneyi alıp kendi işini yapıyor.</a:t>
            </a:r>
            <a:endParaRPr b="0" sz="11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57750" y="3619500"/>
            <a:ext cx="3714900" cy="571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4953000" y="3667125"/>
            <a:ext cx="3524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>
                <a:solidFill>
                  <a:srgbClr val="92400E"/>
                </a:solidFill>
                <a:latin typeface="Inter Medium"/>
                <a:ea typeface="Inter Medium"/>
                <a:cs typeface="Inter Medium"/>
                <a:sym typeface="Inter Medium"/>
              </a:rPr>
              <a:t>Sipariş nesnesi = Command. Birden fazla alıcı aynı komuttan haberdar oluyor.</a:t>
            </a:r>
            <a:endParaRPr b="0" i="1" sz="1000">
              <a:solidFill>
                <a:srgbClr val="92400E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048500" y="4333875"/>
            <a:ext cx="1714500" cy="30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048500" y="433387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Queue (Kuyruk)</a:t>
            </a:r>
            <a:endParaRPr b="1" sz="9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38912" y="9144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5A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5A1"/>
                </a:solidFill>
                <a:latin typeface="Calibri"/>
                <a:ea typeface="Calibri"/>
                <a:cs typeface="Calibri"/>
                <a:sym typeface="Calibri"/>
              </a:rPr>
              <a:t>03 — NEDEN İHTIYAÇ VAR?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38912" y="292608"/>
            <a:ext cx="8321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"Kim istedi" ile "Kim yapacak" Neden Ayrı Olmalı?</a:t>
            </a:r>
            <a:endParaRPr b="1" i="0" sz="2600" u="none" strike="noStrike">
              <a:solidFill>
                <a:srgbClr val="0D1B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" name="Google Shape;82;p6"/>
          <p:cNvGrpSpPr/>
          <p:nvPr/>
        </p:nvGrpSpPr>
        <p:grpSpPr>
          <a:xfrm>
            <a:off x="285750" y="914400"/>
            <a:ext cx="4095900" cy="3429000"/>
            <a:chOff x="285750" y="914400"/>
            <a:chExt cx="4095900" cy="3429000"/>
          </a:xfrm>
        </p:grpSpPr>
        <p:sp>
          <p:nvSpPr>
            <p:cNvPr id="83" name="Google Shape;83;p6"/>
            <p:cNvSpPr/>
            <p:nvPr/>
          </p:nvSpPr>
          <p:spPr>
            <a:xfrm>
              <a:off x="285750" y="91440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F44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285750" y="914400"/>
              <a:ext cx="95400" cy="3429000"/>
            </a:xfrm>
            <a:prstGeom prst="roundRect">
              <a:avLst>
                <a:gd fmla="val 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6"/>
            <p:cNvSpPr txBox="1"/>
            <p:nvPr/>
          </p:nvSpPr>
          <p:spPr>
            <a:xfrm>
              <a:off x="523875" y="100965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✕ A Seçeneği (Sıkı Bağlılık)</a:t>
              </a:r>
              <a:endParaRPr b="1" sz="16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"Telefona Ahmet'i ara, ona söyle büyük latte yapıp masa 5'e getirsin."</a:t>
              </a:r>
              <a:endParaRPr i="1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✕Sen Ahmet'i tanımak zorundasın.</a:t>
              </a:r>
              <a:endParaRPr sz="11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✕Yarın Ahmet izne çıkarsa sistem çöker.</a:t>
              </a:r>
              <a:endParaRPr sz="11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✕Mehmet varsa yeniden bağlantı kurman lazım.</a:t>
              </a:r>
              <a:endParaRPr sz="11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991B1B"/>
                  </a:solidFill>
                  <a:latin typeface="Calibri"/>
                  <a:ea typeface="Calibri"/>
                  <a:cs typeface="Calibri"/>
                  <a:sym typeface="Calibri"/>
                </a:rPr>
                <a:t>✕Değişime kapalı, kırılgan.</a:t>
              </a:r>
              <a:endParaRPr sz="11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" name="Google Shape;86;p6"/>
          <p:cNvGrpSpPr/>
          <p:nvPr/>
        </p:nvGrpSpPr>
        <p:grpSpPr>
          <a:xfrm>
            <a:off x="4762500" y="914400"/>
            <a:ext cx="4095900" cy="3429000"/>
            <a:chOff x="4762500" y="914400"/>
            <a:chExt cx="4095900" cy="3429000"/>
          </a:xfrm>
        </p:grpSpPr>
        <p:sp>
          <p:nvSpPr>
            <p:cNvPr id="87" name="Google Shape;87;p6"/>
            <p:cNvSpPr/>
            <p:nvPr/>
          </p:nvSpPr>
          <p:spPr>
            <a:xfrm>
              <a:off x="4762500" y="91440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00C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4762500" y="914400"/>
              <a:ext cx="95400" cy="3429000"/>
            </a:xfrm>
            <a:prstGeom prst="roundRect">
              <a:avLst>
                <a:gd fmla="val 0" name="adj"/>
              </a:avLst>
            </a:prstGeom>
            <a:solidFill>
              <a:srgbClr val="00C5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6"/>
            <p:cNvSpPr txBox="1"/>
            <p:nvPr/>
          </p:nvSpPr>
          <p:spPr>
            <a:xfrm>
              <a:off x="5000625" y="1009650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9B7D"/>
                  </a:solidFill>
                  <a:latin typeface="Calibri"/>
                  <a:ea typeface="Calibri"/>
                  <a:cs typeface="Calibri"/>
                  <a:sym typeface="Calibri"/>
                </a:rPr>
                <a:t>✓ B Seçeneği (Command)</a:t>
              </a:r>
              <a:endParaRPr b="1" sz="1600">
                <a:solidFill>
                  <a:srgbClr val="009B7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374151"/>
                  </a:solidFill>
                  <a:latin typeface="Calibri"/>
                  <a:ea typeface="Calibri"/>
                  <a:cs typeface="Calibri"/>
                  <a:sym typeface="Calibri"/>
                </a:rPr>
                <a:t>Bir kâğıda "masa 5 — büyük latte" yaz, mutfak panosuna as.</a:t>
              </a:r>
              <a:endParaRPr i="1" sz="12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✓Kimseyi tanımak zorunda değilsin.</a:t>
              </a:r>
              <a:endParaRPr sz="11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✓Mutfakta kim varsa alır, yapar.</a:t>
              </a:r>
              <a:endParaRPr sz="11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✓Şef değişirse kâğıt aynı kalır.</a:t>
              </a:r>
              <a:endParaRPr sz="11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✓Değişime açık, esnek.</a:t>
              </a:r>
              <a:endParaRPr sz="11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4381500" y="2473452"/>
            <a:ext cx="38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C5A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trending_flat</a:t>
            </a:r>
            <a:endParaRPr sz="2400">
              <a:solidFill>
                <a:srgbClr val="00C5A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92608" y="4553712"/>
            <a:ext cx="8558700" cy="457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92608" y="4553712"/>
            <a:ext cx="8558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5A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5A1"/>
                </a:solidFill>
                <a:latin typeface="Calibri"/>
                <a:ea typeface="Calibri"/>
                <a:cs typeface="Calibri"/>
                <a:sym typeface="Calibri"/>
              </a:rPr>
              <a:t>Yazılımda esneklik, test edilebilirlik ve bakım kolaylığı tam buradan doğuyor.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7"/>
          <p:cNvGrpSpPr/>
          <p:nvPr/>
        </p:nvGrpSpPr>
        <p:grpSpPr>
          <a:xfrm>
            <a:off x="438150" y="238125"/>
            <a:ext cx="8229600" cy="666825"/>
            <a:chOff x="438150" y="238125"/>
            <a:chExt cx="8229600" cy="666825"/>
          </a:xfrm>
        </p:grpSpPr>
        <p:sp>
          <p:nvSpPr>
            <p:cNvPr id="101" name="Google Shape;101;p7"/>
            <p:cNvSpPr txBox="1"/>
            <p:nvPr/>
          </p:nvSpPr>
          <p:spPr>
            <a:xfrm>
              <a:off x="438150" y="238125"/>
              <a:ext cx="5486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04 — KOD: PROBLEM</a:t>
              </a:r>
              <a:endParaRPr b="1" sz="1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" name="Google Shape;102;p7"/>
            <p:cNvSpPr txBox="1"/>
            <p:nvPr/>
          </p:nvSpPr>
          <p:spPr>
            <a:xfrm>
              <a:off x="438150" y="476250"/>
              <a:ext cx="82296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Command Olmadan — 3 Yerde Aynı Kod</a:t>
              </a:r>
              <a:endParaRPr b="0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438150" y="1095375"/>
            <a:ext cx="4953000" cy="3333900"/>
            <a:chOff x="438150" y="1095375"/>
            <a:chExt cx="4953000" cy="3333900"/>
          </a:xfrm>
        </p:grpSpPr>
        <p:sp>
          <p:nvSpPr>
            <p:cNvPr id="104" name="Google Shape;104;p7"/>
            <p:cNvSpPr/>
            <p:nvPr/>
          </p:nvSpPr>
          <p:spPr>
            <a:xfrm>
              <a:off x="438150" y="1095375"/>
              <a:ext cx="4953000" cy="3333900"/>
            </a:xfrm>
            <a:prstGeom prst="roundRect">
              <a:avLst>
                <a:gd fmla="val 3428" name="adj"/>
              </a:avLst>
            </a:prstGeom>
            <a:solidFill>
              <a:srgbClr val="1E293B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 txBox="1"/>
            <p:nvPr/>
          </p:nvSpPr>
          <p:spPr>
            <a:xfrm>
              <a:off x="628650" y="1238250"/>
              <a:ext cx="457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 + 3 Button Sınıfı</a:t>
              </a:r>
              <a:endParaRPr b="1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06" name="Google Shape;106;p7"/>
            <p:cNvSpPr txBox="1"/>
            <p:nvPr/>
          </p:nvSpPr>
          <p:spPr>
            <a:xfrm>
              <a:off x="628650" y="1524000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CopyButton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editor;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onClick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CopyMenuItem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onSelect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 // 🔁 Tekrar!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CopyKeyboardShortcut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onKeyPress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 // 🔁 Tekrar!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07" name="Google Shape;107;p7"/>
          <p:cNvGrpSpPr/>
          <p:nvPr/>
        </p:nvGrpSpPr>
        <p:grpSpPr>
          <a:xfrm>
            <a:off x="5562600" y="1095375"/>
            <a:ext cx="3143400" cy="3333900"/>
            <a:chOff x="5562600" y="1095375"/>
            <a:chExt cx="3143400" cy="3333900"/>
          </a:xfrm>
        </p:grpSpPr>
        <p:sp>
          <p:nvSpPr>
            <p:cNvPr id="108" name="Google Shape;108;p7"/>
            <p:cNvSpPr/>
            <p:nvPr/>
          </p:nvSpPr>
          <p:spPr>
            <a:xfrm>
              <a:off x="5562600" y="1095375"/>
              <a:ext cx="3143400" cy="3333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5562600" y="1095375"/>
              <a:ext cx="3143400" cy="381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5753100" y="1285875"/>
              <a:ext cx="2762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editor.copy() 3 yerde</a:t>
              </a:r>
              <a:endParaRPr b="1" sz="11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Metot adı değişirse 3 yer değişir.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Undo eklemek istersen</a:t>
              </a:r>
              <a:endParaRPr b="1" sz="11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3 sınıfa ayrı ayrı eklemen lazım.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Test etmek istersen</a:t>
              </a:r>
              <a:endParaRPr b="1" sz="11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3 sınıf, 3 ayrı mock kurulumu.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Yeni tetikleyici gelirse</a:t>
              </a:r>
              <a:endParaRPr b="1" sz="11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(API, ses komutu...) 4. kopyayı yazarsın.</a:t>
              </a:r>
              <a:endParaRPr b="0"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1" name="Google Shape;111;p7"/>
          <p:cNvGrpSpPr/>
          <p:nvPr/>
        </p:nvGrpSpPr>
        <p:grpSpPr>
          <a:xfrm>
            <a:off x="438150" y="4572000"/>
            <a:ext cx="8267700" cy="428700"/>
            <a:chOff x="438150" y="4572000"/>
            <a:chExt cx="8267700" cy="428700"/>
          </a:xfrm>
        </p:grpSpPr>
        <p:sp>
          <p:nvSpPr>
            <p:cNvPr id="112" name="Google Shape;112;p7"/>
            <p:cNvSpPr/>
            <p:nvPr/>
          </p:nvSpPr>
          <p:spPr>
            <a:xfrm>
              <a:off x="438150" y="4572000"/>
              <a:ext cx="8267700" cy="428700"/>
            </a:xfrm>
            <a:prstGeom prst="roundRect">
              <a:avLst>
                <a:gd fmla="val 1777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438150" y="4572000"/>
              <a:ext cx="8267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 farklı sınıf — 3 farklı yerde aynı çağrı. </a:t>
              </a:r>
              <a:endParaRPr b="0" i="1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14" name="Google Shape;114;p7"/>
          <p:cNvSpPr txBox="1"/>
          <p:nvPr/>
        </p:nvSpPr>
        <p:spPr>
          <a:xfrm>
            <a:off x="8724900" y="4886325"/>
            <a:ext cx="3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8"/>
          <p:cNvGrpSpPr/>
          <p:nvPr/>
        </p:nvGrpSpPr>
        <p:grpSpPr>
          <a:xfrm>
            <a:off x="438150" y="238125"/>
            <a:ext cx="8229600" cy="609600"/>
            <a:chOff x="438150" y="238125"/>
            <a:chExt cx="8229600" cy="609600"/>
          </a:xfrm>
        </p:grpSpPr>
        <p:sp>
          <p:nvSpPr>
            <p:cNvPr id="122" name="Google Shape;122;p8"/>
            <p:cNvSpPr txBox="1"/>
            <p:nvPr/>
          </p:nvSpPr>
          <p:spPr>
            <a:xfrm>
              <a:off x="438150" y="238125"/>
              <a:ext cx="5486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04 — KOD: PROBLEM</a:t>
              </a:r>
              <a:endParaRPr b="1" sz="9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438150" y="428625"/>
              <a:ext cx="82296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Command Olmadan — 3 Yerde Aynı Kod</a:t>
              </a:r>
              <a:endParaRPr b="0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>
            <a:off x="438150" y="1047750"/>
            <a:ext cx="4953000" cy="3333900"/>
            <a:chOff x="438150" y="1047750"/>
            <a:chExt cx="4953000" cy="3333900"/>
          </a:xfrm>
        </p:grpSpPr>
        <p:sp>
          <p:nvSpPr>
            <p:cNvPr id="125" name="Google Shape;125;p8"/>
            <p:cNvSpPr/>
            <p:nvPr/>
          </p:nvSpPr>
          <p:spPr>
            <a:xfrm>
              <a:off x="438150" y="1047750"/>
              <a:ext cx="4953000" cy="3333900"/>
            </a:xfrm>
            <a:prstGeom prst="roundRect">
              <a:avLst>
                <a:gd fmla="val 3428" name="adj"/>
              </a:avLst>
            </a:prstGeom>
            <a:solidFill>
              <a:srgbClr val="1E293B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628650" y="1190625"/>
              <a:ext cx="45720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 + 3 Button Sınıfı</a:t>
              </a:r>
              <a:endParaRPr b="1" sz="10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27" name="Google Shape;127;p8"/>
            <p:cNvSpPr txBox="1"/>
            <p:nvPr/>
          </p:nvSpPr>
          <p:spPr>
            <a:xfrm>
              <a:off x="628650" y="1476375"/>
              <a:ext cx="4572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CopyButton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editor;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onClick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CopyMenuItem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onSelect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 // 🔁 Tekrar!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 </a:t>
              </a:r>
              <a:r>
                <a:rPr b="0" lang="en-US" sz="95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CopyKeyboardShortcut</a:t>
              </a: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 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onKeyPress</a:t>
              </a: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b="0" lang="en-US" sz="950">
                  <a:solidFill>
                    <a:srgbClr val="7DD3FC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b="0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 // 🔁 Tekrar!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28" name="Google Shape;128;p8"/>
          <p:cNvGrpSpPr/>
          <p:nvPr/>
        </p:nvGrpSpPr>
        <p:grpSpPr>
          <a:xfrm>
            <a:off x="5581650" y="1047750"/>
            <a:ext cx="3143400" cy="3333900"/>
            <a:chOff x="5581650" y="1047750"/>
            <a:chExt cx="3143400" cy="3333900"/>
          </a:xfrm>
        </p:grpSpPr>
        <p:sp>
          <p:nvSpPr>
            <p:cNvPr id="129" name="Google Shape;129;p8"/>
            <p:cNvSpPr/>
            <p:nvPr/>
          </p:nvSpPr>
          <p:spPr>
            <a:xfrm>
              <a:off x="5581650" y="1047750"/>
              <a:ext cx="3143400" cy="3333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F1F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5581650" y="1047750"/>
              <a:ext cx="3143400" cy="381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5772150" y="1238250"/>
              <a:ext cx="27624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editor.copy() 3 yerde</a:t>
              </a:r>
              <a:endParaRPr b="1" sz="105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Metot adı değişirse 3 yer değişir.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Undo eklemek istersen</a:t>
              </a:r>
              <a:endParaRPr b="1" sz="105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3 sınıfa ayrı ayrı eklemen lazım.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Test etmek istersen</a:t>
              </a:r>
              <a:endParaRPr b="1" sz="105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3 sınıf, 3 ayrı mock kurulumu.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✕ Yeni tetikleyici gelirse</a:t>
              </a:r>
              <a:endParaRPr b="1" sz="105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(API, ses komutu...) 4. kopyayı yazarsın.</a:t>
              </a:r>
              <a:endParaRPr sz="9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2" name="Google Shape;132;p8"/>
          <p:cNvGrpSpPr/>
          <p:nvPr/>
        </p:nvGrpSpPr>
        <p:grpSpPr>
          <a:xfrm>
            <a:off x="438150" y="4524375"/>
            <a:ext cx="8286900" cy="428700"/>
            <a:chOff x="438150" y="4524375"/>
            <a:chExt cx="8286900" cy="428700"/>
          </a:xfrm>
        </p:grpSpPr>
        <p:sp>
          <p:nvSpPr>
            <p:cNvPr id="133" name="Google Shape;133;p8"/>
            <p:cNvSpPr/>
            <p:nvPr/>
          </p:nvSpPr>
          <p:spPr>
            <a:xfrm>
              <a:off x="438150" y="4524375"/>
              <a:ext cx="8286900" cy="428700"/>
            </a:xfrm>
            <a:prstGeom prst="roundRect">
              <a:avLst>
                <a:gd fmla="val 1777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8"/>
            <p:cNvSpPr txBox="1"/>
            <p:nvPr/>
          </p:nvSpPr>
          <p:spPr>
            <a:xfrm>
              <a:off x="438150" y="4524375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20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3 farklı sınıf — 3 farklı yerde aynı çağrı. </a:t>
              </a:r>
              <a:endParaRPr b="0" i="1" sz="120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35" name="Google Shape;135;p8"/>
          <p:cNvSpPr/>
          <p:nvPr/>
        </p:nvSpPr>
        <p:spPr>
          <a:xfrm>
            <a:off x="8724900" y="4886325"/>
            <a:ext cx="320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9"/>
          <p:cNvGrpSpPr/>
          <p:nvPr/>
        </p:nvGrpSpPr>
        <p:grpSpPr>
          <a:xfrm>
            <a:off x="438150" y="238125"/>
            <a:ext cx="8229600" cy="714525"/>
            <a:chOff x="438150" y="238125"/>
            <a:chExt cx="8229600" cy="714525"/>
          </a:xfrm>
        </p:grpSpPr>
        <p:sp>
          <p:nvSpPr>
            <p:cNvPr id="143" name="Google Shape;143;p9"/>
            <p:cNvSpPr txBox="1"/>
            <p:nvPr/>
          </p:nvSpPr>
          <p:spPr>
            <a:xfrm>
              <a:off x="438150" y="238125"/>
              <a:ext cx="548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04 — KOD: ÇÖZÜM ADIM 1</a:t>
              </a:r>
              <a:endParaRPr b="1" sz="1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" name="Google Shape;144;p9"/>
            <p:cNvSpPr txBox="1"/>
            <p:nvPr/>
          </p:nvSpPr>
          <p:spPr>
            <a:xfrm>
              <a:off x="438150" y="476250"/>
              <a:ext cx="822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1E29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Command Interface + Concrete Command</a:t>
              </a:r>
              <a:endParaRPr b="0" sz="24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45" name="Google Shape;145;p9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146" name="Google Shape;146;p9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7" name="Google Shape;14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1000" y="1143000"/>
              <a:ext cx="40959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9"/>
            <p:cNvSpPr txBox="1"/>
            <p:nvPr/>
          </p:nvSpPr>
          <p:spPr>
            <a:xfrm>
              <a:off x="523875" y="12096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EA5E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Command.java</a:t>
              </a:r>
              <a:endParaRPr b="1" sz="90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49" name="Google Shape;149;p9"/>
            <p:cNvSpPr txBox="1"/>
            <p:nvPr/>
          </p:nvSpPr>
          <p:spPr>
            <a:xfrm>
              <a:off x="523875" y="1571625"/>
              <a:ext cx="381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Sözleşme</a:t>
              </a:r>
              <a:endParaRPr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interface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boolean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execute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void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undo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State değiştirmez</a:t>
              </a:r>
              <a:endParaRPr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CopyCommand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implements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editor;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boolean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execute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copy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 false; </a:t>
              </a:r>
              <a:r>
                <a:rPr i="1"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history'ye ekleme</a:t>
              </a:r>
              <a:endParaRPr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void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undo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{} </a:t>
              </a:r>
              <a:r>
                <a:rPr i="1"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geri alma yok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150" name="Google Shape;150;p9"/>
          <p:cNvGrpSpPr/>
          <p:nvPr/>
        </p:nvGrpSpPr>
        <p:grpSpPr>
          <a:xfrm>
            <a:off x="4667250" y="1143000"/>
            <a:ext cx="4095900" cy="3619500"/>
            <a:chOff x="4667250" y="1143000"/>
            <a:chExt cx="4095900" cy="3619500"/>
          </a:xfrm>
        </p:grpSpPr>
        <p:sp>
          <p:nvSpPr>
            <p:cNvPr id="151" name="Google Shape;151;p9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2" name="Google Shape;15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0" y="1143000"/>
              <a:ext cx="40959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9"/>
            <p:cNvSpPr txBox="1"/>
            <p:nvPr/>
          </p:nvSpPr>
          <p:spPr>
            <a:xfrm>
              <a:off x="4810125" y="1209675"/>
              <a:ext cx="3810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EA5E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CutCommand.java</a:t>
              </a:r>
              <a:endParaRPr b="1" sz="90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154" name="Google Shape;154;p9"/>
            <p:cNvSpPr txBox="1"/>
            <p:nvPr/>
          </p:nvSpPr>
          <p:spPr>
            <a:xfrm>
              <a:off x="4810125" y="1571625"/>
              <a:ext cx="3810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State değişiyor → backup al</a:t>
              </a:r>
              <a:endParaRPr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class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CutCommand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implements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B4530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editor;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 String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backup;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boolean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execute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backup = editor.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getSelectedText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cut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 true; </a:t>
              </a:r>
              <a:r>
                <a:rPr i="1" lang="en-US" sz="95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history'ye ekle</a:t>
              </a:r>
              <a:endParaRPr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BE185D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void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undo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{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2857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editor.</a:t>
              </a:r>
              <a:r>
                <a:rPr lang="en-US" sz="950">
                  <a:solidFill>
                    <a:srgbClr val="0369A1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restoreText</a:t>
              </a: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(backup);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1428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155" name="Google Shape;155;p9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438912" y="190500"/>
            <a:ext cx="54864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04 — KOD: ÇÖZÜM ADIM 2 &amp; 3</a:t>
            </a:r>
            <a:endParaRPr b="1" sz="900">
              <a:solidFill>
                <a:srgbClr val="0D948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38912" y="428625"/>
            <a:ext cx="8229600" cy="42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Invoker (</a:t>
            </a:r>
            <a:r>
              <a:rPr lang="en-US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toplayan, zamanında ileten</a:t>
            </a:r>
            <a:r>
              <a:rPr b="0" lang="en-US" sz="26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) + Client</a:t>
            </a:r>
            <a:endParaRPr b="0" sz="260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285750" y="1143000"/>
            <a:ext cx="41910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285750" y="1143000"/>
            <a:ext cx="4191000" cy="381000"/>
          </a:xfrm>
          <a:prstGeom prst="roundRect">
            <a:avLst>
              <a:gd fmla="val 3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285750" y="1333500"/>
            <a:ext cx="4191000" cy="190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476250" y="1223963"/>
            <a:ext cx="3810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Invoker — CommandHistory.java</a:t>
            </a:r>
            <a:endParaRPr b="1" sz="1000">
              <a:solidFill>
                <a:srgbClr val="0D948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76250" y="1619250"/>
            <a:ext cx="3810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Komutları toplar, çalıştırır, saklar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CommandHistory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Deque&lt;Command&gt;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history = 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ArrayDeque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&lt;&gt;();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(Command cmd)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(cmd.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 { history.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push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(cmd); 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undo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 last = history.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poll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(last != 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null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 last.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undo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667250" y="1143000"/>
            <a:ext cx="41910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667250" y="1143000"/>
            <a:ext cx="4191000" cy="381000"/>
          </a:xfrm>
          <a:prstGeom prst="roundRect">
            <a:avLst>
              <a:gd fmla="val 3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4667250" y="1333500"/>
            <a:ext cx="4191000" cy="190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857750" y="1223963"/>
            <a:ext cx="38100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D94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 — Application.java</a:t>
            </a:r>
            <a:endParaRPr b="1" sz="1000">
              <a:solidFill>
                <a:srgbClr val="0D948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857750" y="1619250"/>
            <a:ext cx="38100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 tetikleyici, TEK komut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void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setupUI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Toolbar, Menü ve Kısayol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copyBtn.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onClick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(() -&gt; invoker.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CopyCommand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(editor)));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menu.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onCopyClick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(() -&gt; invoker.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CopyCommand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(editor)));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keyboard.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onCtrlC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(() -&gt; invoker.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b="0" lang="en-US" sz="950">
                <a:solidFill>
                  <a:srgbClr val="B4530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CopyCommand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(editor)));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Geri Al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9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keyboard.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onCtrlZ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(() -&gt; invoker.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undo</a:t>
            </a: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0"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438912" y="190500"/>
            <a:ext cx="54864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05 — TARİHÇE &amp; ÖZET</a:t>
            </a:r>
            <a:endParaRPr b="1" sz="10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38912" y="428625"/>
            <a:ext cx="822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Neden Çıkmış? Neyi Çözüyor?</a:t>
            </a:r>
            <a:endParaRPr b="0" sz="280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84" name="Google Shape;184;p11"/>
          <p:cNvGrpSpPr/>
          <p:nvPr/>
        </p:nvGrpSpPr>
        <p:grpSpPr>
          <a:xfrm>
            <a:off x="381000" y="1047750"/>
            <a:ext cx="4095900" cy="3619500"/>
            <a:chOff x="381000" y="1047750"/>
            <a:chExt cx="4095900" cy="3619500"/>
          </a:xfrm>
        </p:grpSpPr>
        <p:sp>
          <p:nvSpPr>
            <p:cNvPr id="185" name="Google Shape;185;p11"/>
            <p:cNvSpPr/>
            <p:nvPr/>
          </p:nvSpPr>
          <p:spPr>
            <a:xfrm>
              <a:off x="381000" y="104775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81000" y="1047750"/>
              <a:ext cx="4095900" cy="457200"/>
            </a:xfrm>
            <a:prstGeom prst="roundRect">
              <a:avLst>
                <a:gd fmla="val 25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381000" y="1390650"/>
              <a:ext cx="4095900" cy="1143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1"/>
            <p:cNvSpPr txBox="1"/>
            <p:nvPr/>
          </p:nvSpPr>
          <p:spPr>
            <a:xfrm>
              <a:off x="571500" y="1047750"/>
              <a:ext cx="3714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📅 1980–1990: GUI Patlaması</a:t>
              </a:r>
              <a:endParaRPr b="1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9" name="Google Shape;189;p11"/>
            <p:cNvSpPr txBox="1"/>
            <p:nvPr/>
          </p:nvSpPr>
          <p:spPr>
            <a:xfrm>
              <a:off x="571500" y="1619250"/>
              <a:ext cx="3714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Word işlemciler, spreadsheet'ler, çizim programları yaygınlaştı. Hepsi aynı ihtiyaçları doğurdu:</a:t>
              </a:r>
              <a:endParaRPr b="0" sz="11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↩️ Undo/Redo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Kullanıcının hata yapma hakkı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⏺️ Makro Kaydedici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İşlem dizisini kaydet, tekrar çalıştır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🤝 Cooperative Edit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Birden fazla kullanıcı, çakışma çözme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⚙️ Otomasyon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Aynı işlemleri programatik çalıştırma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750"/>
                </a:spcAft>
                <a:buNone/>
              </a:pPr>
              <a:r>
                <a:rPr b="1" lang="en-US" sz="105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→ Tüm bunlar için işlemlerin nesne olması gerekiyordu.</a:t>
              </a:r>
              <a:endParaRPr b="1" sz="105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11"/>
          <p:cNvGrpSpPr/>
          <p:nvPr/>
        </p:nvGrpSpPr>
        <p:grpSpPr>
          <a:xfrm>
            <a:off x="4667250" y="1047750"/>
            <a:ext cx="4095900" cy="3619500"/>
            <a:chOff x="4667250" y="1047750"/>
            <a:chExt cx="4095900" cy="3619500"/>
          </a:xfrm>
        </p:grpSpPr>
        <p:sp>
          <p:nvSpPr>
            <p:cNvPr id="191" name="Google Shape;191;p11"/>
            <p:cNvSpPr/>
            <p:nvPr/>
          </p:nvSpPr>
          <p:spPr>
            <a:xfrm>
              <a:off x="4667250" y="104775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667250" y="1047750"/>
              <a:ext cx="4095900" cy="457200"/>
            </a:xfrm>
            <a:prstGeom prst="roundRect">
              <a:avLst>
                <a:gd fmla="val 25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4667250" y="1390650"/>
              <a:ext cx="4095900" cy="1143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1"/>
            <p:cNvSpPr txBox="1"/>
            <p:nvPr/>
          </p:nvSpPr>
          <p:spPr>
            <a:xfrm>
              <a:off x="4857750" y="1047750"/>
              <a:ext cx="37149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✅ Neyi Çözüyor?</a:t>
              </a:r>
              <a:endParaRPr b="1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4857750" y="1619250"/>
              <a:ext cx="37149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▸ Tight Coupling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Tetikleyici artık alıcıyı tanımıyor.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▸ Kod Tekrarı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Aynı komut 10 tetikleyicide kullanılabilir.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▸ Undo/Redo Desteği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History stack ile tam geri alma imkanı.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▸ Erteleme Sorunu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Komut nesne oldu, istediğin zaman çalıştır.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b="1" lang="en-US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▸ Log Eksikliği</a:t>
              </a:r>
              <a:b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Her komut kim, ne, ne zaman bilgisini taşır.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6" name="Google Shape;196;p11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0"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12"/>
          <p:cNvGrpSpPr/>
          <p:nvPr/>
        </p:nvGrpSpPr>
        <p:grpSpPr>
          <a:xfrm>
            <a:off x="0" y="0"/>
            <a:ext cx="9144000" cy="1000125"/>
            <a:chOff x="0" y="0"/>
            <a:chExt cx="9144000" cy="1000125"/>
          </a:xfrm>
        </p:grpSpPr>
        <p:sp>
          <p:nvSpPr>
            <p:cNvPr id="203" name="Google Shape;203;p12"/>
            <p:cNvSpPr/>
            <p:nvPr/>
          </p:nvSpPr>
          <p:spPr>
            <a:xfrm>
              <a:off x="0" y="0"/>
              <a:ext cx="9144000" cy="38100"/>
            </a:xfrm>
            <a:prstGeom prst="rect">
              <a:avLst/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2"/>
            <p:cNvSpPr txBox="1"/>
            <p:nvPr/>
          </p:nvSpPr>
          <p:spPr>
            <a:xfrm>
              <a:off x="438150" y="190500"/>
              <a:ext cx="1905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06 — OOP'TAKI AÇIK</a:t>
              </a:r>
              <a:endParaRPr b="1" sz="10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5" name="Google Shape;205;p12"/>
            <p:cNvSpPr txBox="1"/>
            <p:nvPr/>
          </p:nvSpPr>
          <p:spPr>
            <a:xfrm>
              <a:off x="438150" y="428625"/>
              <a:ext cx="8267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59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Nesneleri Taşıyabilirsin — Eylemleri Taşıyamazsın</a:t>
              </a:r>
              <a:endParaRPr b="0" sz="259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206" name="Google Shape;206;p12"/>
          <p:cNvGrpSpPr/>
          <p:nvPr/>
        </p:nvGrpSpPr>
        <p:grpSpPr>
          <a:xfrm>
            <a:off x="438150" y="1095375"/>
            <a:ext cx="8267700" cy="952500"/>
            <a:chOff x="438150" y="1095375"/>
            <a:chExt cx="8267700" cy="952500"/>
          </a:xfrm>
        </p:grpSpPr>
        <p:sp>
          <p:nvSpPr>
            <p:cNvPr id="207" name="Google Shape;207;p12"/>
            <p:cNvSpPr/>
            <p:nvPr/>
          </p:nvSpPr>
          <p:spPr>
            <a:xfrm>
              <a:off x="438150" y="1095375"/>
              <a:ext cx="82677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438150" y="1095375"/>
              <a:ext cx="57300" cy="952500"/>
            </a:xfrm>
            <a:prstGeom prst="roundRect">
              <a:avLst>
                <a:gd fmla="val 0" name="adj"/>
              </a:avLst>
            </a:prstGeom>
            <a:solidFill>
              <a:srgbClr val="0D948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2"/>
            <p:cNvSpPr txBox="1"/>
            <p:nvPr/>
          </p:nvSpPr>
          <p:spPr>
            <a:xfrm>
              <a:off x="647700" y="1190625"/>
              <a:ext cx="3619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D9488"/>
                  </a:solidFill>
                  <a:latin typeface="Inter"/>
                  <a:ea typeface="Inter"/>
                  <a:cs typeface="Inter"/>
                  <a:sym typeface="Inter"/>
                </a:rPr>
                <a:t>📦 </a:t>
              </a:r>
              <a:endParaRPr b="1" sz="1400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Elinde bir kutu var. Bu kutuya her şeyi koyabilirsin: elma, kitap, kalem. İstediğin zaman çıkarırsın, başkasına verirsin.</a:t>
              </a:r>
              <a:endParaRPr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0" name="Google Shape;210;p12"/>
            <p:cNvSpPr txBox="1"/>
            <p:nvPr/>
          </p:nvSpPr>
          <p:spPr>
            <a:xfrm>
              <a:off x="4476750" y="1190625"/>
              <a:ext cx="403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Peki birine "zıpla" eylemini vermen gerekiyor. Bunu kutuya koyabilir misin? Kâğıda "zıpla" yazıp kutuya koysaydın? O zaman eylemi taşıyabilirsin.</a:t>
              </a:r>
              <a:endParaRPr i="1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1" name="Google Shape;211;p12"/>
          <p:cNvGrpSpPr/>
          <p:nvPr/>
        </p:nvGrpSpPr>
        <p:grpSpPr>
          <a:xfrm>
            <a:off x="438150" y="2238375"/>
            <a:ext cx="2628900" cy="2524200"/>
            <a:chOff x="438150" y="2238375"/>
            <a:chExt cx="2628900" cy="2524200"/>
          </a:xfrm>
        </p:grpSpPr>
        <p:sp>
          <p:nvSpPr>
            <p:cNvPr id="212" name="Google Shape;212;p12"/>
            <p:cNvSpPr/>
            <p:nvPr/>
          </p:nvSpPr>
          <p:spPr>
            <a:xfrm>
              <a:off x="438150" y="2238375"/>
              <a:ext cx="26289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2"/>
            <p:cNvSpPr/>
            <p:nvPr/>
          </p:nvSpPr>
          <p:spPr>
            <a:xfrm>
              <a:off x="438150" y="2238375"/>
              <a:ext cx="2628900" cy="428700"/>
            </a:xfrm>
            <a:prstGeom prst="roundRect">
              <a:avLst>
                <a:gd fmla="val 35555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438150" y="2524125"/>
              <a:ext cx="2628900" cy="142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2"/>
            <p:cNvSpPr txBox="1"/>
            <p:nvPr/>
          </p:nvSpPr>
          <p:spPr>
            <a:xfrm>
              <a:off x="438150" y="2238375"/>
              <a:ext cx="2628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Sayılar ✅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6" name="Google Shape;216;p12"/>
            <p:cNvSpPr txBox="1"/>
            <p:nvPr/>
          </p:nvSpPr>
          <p:spPr>
            <a:xfrm>
              <a:off x="628650" y="2809875"/>
              <a:ext cx="2247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int x = 5;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list.add(5);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 5;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hesapla(5);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17" name="Google Shape;217;p12"/>
            <p:cNvSpPr/>
            <p:nvPr/>
          </p:nvSpPr>
          <p:spPr>
            <a:xfrm>
              <a:off x="628650" y="4286250"/>
              <a:ext cx="2247900" cy="342900"/>
            </a:xfrm>
            <a:prstGeom prst="roundRect">
              <a:avLst>
                <a:gd fmla="val 22222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2"/>
            <p:cNvSpPr txBox="1"/>
            <p:nvPr/>
          </p:nvSpPr>
          <p:spPr>
            <a:xfrm>
              <a:off x="628650" y="4286250"/>
              <a:ext cx="2247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Birinci sınıf vatandaş</a:t>
              </a:r>
              <a:endParaRPr b="1" sz="10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12"/>
          <p:cNvGrpSpPr/>
          <p:nvPr/>
        </p:nvGrpSpPr>
        <p:grpSpPr>
          <a:xfrm>
            <a:off x="3257550" y="2238375"/>
            <a:ext cx="2628900" cy="2524200"/>
            <a:chOff x="3257550" y="2238375"/>
            <a:chExt cx="2628900" cy="2524200"/>
          </a:xfrm>
        </p:grpSpPr>
        <p:sp>
          <p:nvSpPr>
            <p:cNvPr id="220" name="Google Shape;220;p12"/>
            <p:cNvSpPr/>
            <p:nvPr/>
          </p:nvSpPr>
          <p:spPr>
            <a:xfrm>
              <a:off x="3257550" y="2238375"/>
              <a:ext cx="26289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>
              <a:off x="3257550" y="2238375"/>
              <a:ext cx="2628900" cy="428700"/>
            </a:xfrm>
            <a:prstGeom prst="roundRect">
              <a:avLst>
                <a:gd fmla="val 35555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>
              <a:off x="3257550" y="2524125"/>
              <a:ext cx="2628900" cy="1428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 txBox="1"/>
            <p:nvPr/>
          </p:nvSpPr>
          <p:spPr>
            <a:xfrm>
              <a:off x="3257550" y="2238375"/>
              <a:ext cx="2628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Nesneler ✅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4" name="Google Shape;224;p12"/>
            <p:cNvSpPr txBox="1"/>
            <p:nvPr/>
          </p:nvSpPr>
          <p:spPr>
            <a:xfrm>
              <a:off x="3448050" y="2809875"/>
              <a:ext cx="2247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 u = new User();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list.add(u);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return u;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send(u);</a:t>
              </a:r>
              <a:endParaRPr sz="110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25" name="Google Shape;225;p12"/>
            <p:cNvSpPr/>
            <p:nvPr/>
          </p:nvSpPr>
          <p:spPr>
            <a:xfrm>
              <a:off x="3448050" y="4286250"/>
              <a:ext cx="2247900" cy="342900"/>
            </a:xfrm>
            <a:prstGeom prst="roundRect">
              <a:avLst>
                <a:gd fmla="val 22222" name="adj"/>
              </a:avLst>
            </a:prstGeom>
            <a:solidFill>
              <a:srgbClr val="DBEAF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 txBox="1"/>
            <p:nvPr/>
          </p:nvSpPr>
          <p:spPr>
            <a:xfrm>
              <a:off x="3448050" y="4286250"/>
              <a:ext cx="2247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Birinci sınıf vatandaş</a:t>
              </a:r>
              <a:endParaRPr b="1" sz="10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7" name="Google Shape;227;p12"/>
          <p:cNvGrpSpPr/>
          <p:nvPr/>
        </p:nvGrpSpPr>
        <p:grpSpPr>
          <a:xfrm>
            <a:off x="6076950" y="2238375"/>
            <a:ext cx="2628900" cy="2524200"/>
            <a:chOff x="6076950" y="2238375"/>
            <a:chExt cx="2628900" cy="2524200"/>
          </a:xfrm>
        </p:grpSpPr>
        <p:sp>
          <p:nvSpPr>
            <p:cNvPr id="228" name="Google Shape;228;p12"/>
            <p:cNvSpPr/>
            <p:nvPr/>
          </p:nvSpPr>
          <p:spPr>
            <a:xfrm>
              <a:off x="6076950" y="2238375"/>
              <a:ext cx="2628900" cy="2524200"/>
            </a:xfrm>
            <a:prstGeom prst="roundRect">
              <a:avLst>
                <a:gd fmla="val 603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6076950" y="2238375"/>
              <a:ext cx="2628900" cy="428700"/>
            </a:xfrm>
            <a:prstGeom prst="roundRect">
              <a:avLst>
                <a:gd fmla="val 35555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>
              <a:off x="6076950" y="2524125"/>
              <a:ext cx="2628900" cy="142800"/>
            </a:xfrm>
            <a:prstGeom prst="rect">
              <a:avLst/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 txBox="1"/>
            <p:nvPr/>
          </p:nvSpPr>
          <p:spPr>
            <a:xfrm>
              <a:off x="6076950" y="2238375"/>
              <a:ext cx="2628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Davranışlar ❌</a:t>
              </a:r>
              <a:endPara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6267450" y="2809875"/>
              <a:ext cx="2247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??? a = editor.copy();</a:t>
              </a:r>
              <a:endParaRPr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415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list.add(editor.copy());</a:t>
              </a:r>
              <a:endParaRPr sz="1050">
                <a:solidFill>
                  <a:srgbClr val="334155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copy() hemen çalışır!</a:t>
              </a:r>
              <a:endParaRPr i="1" sz="95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EF4444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// sonucu ekler, kendisini değil</a:t>
              </a:r>
              <a:endParaRPr i="1" sz="95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233" name="Google Shape;233;p12"/>
            <p:cNvSpPr/>
            <p:nvPr/>
          </p:nvSpPr>
          <p:spPr>
            <a:xfrm>
              <a:off x="6267450" y="4286250"/>
              <a:ext cx="2247900" cy="342900"/>
            </a:xfrm>
            <a:prstGeom prst="roundRect">
              <a:avLst>
                <a:gd fmla="val 22222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 txBox="1"/>
            <p:nvPr/>
          </p:nvSpPr>
          <p:spPr>
            <a:xfrm>
              <a:off x="6267450" y="4286250"/>
              <a:ext cx="2247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Java 7'de mümkün değil</a:t>
              </a:r>
              <a:endParaRPr b="1" sz="10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5" name="Google Shape;235;p12"/>
          <p:cNvSpPr txBox="1"/>
          <p:nvPr/>
        </p:nvSpPr>
        <p:spPr>
          <a:xfrm>
            <a:off x="8667750" y="4905375"/>
            <a:ext cx="285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0" y="0"/>
            <a:ext cx="9144000" cy="47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"/>
          <p:cNvSpPr/>
          <p:nvPr/>
        </p:nvSpPr>
        <p:spPr>
          <a:xfrm>
            <a:off x="438150" y="238125"/>
            <a:ext cx="54864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06 — JAVA 7 WORKAROUND</a:t>
            </a:r>
            <a:endParaRPr b="1" sz="10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438150" y="476250"/>
            <a:ext cx="822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 7: Tek Çözüm Anonim İç Sınıftı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38150" y="1190625"/>
            <a:ext cx="4095900" cy="3429000"/>
          </a:xfrm>
          <a:prstGeom prst="rect">
            <a:avLst/>
          </a:prstGeom>
          <a:solidFill>
            <a:srgbClr val="1E293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/>
          <p:cNvSpPr/>
          <p:nvPr/>
        </p:nvSpPr>
        <p:spPr>
          <a:xfrm>
            <a:off x="628650" y="1285875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Java 7 — Anonim İç Sınıf</a:t>
            </a:r>
            <a:endParaRPr b="1" sz="1100">
              <a:solidFill>
                <a:srgbClr val="3B82F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628650" y="1666875"/>
            <a:ext cx="37149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Problemi hatırlayalım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editor.copy() → hemen çalışır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Çözüm: davranışı hapsettik</a:t>
            </a:r>
            <a:endParaRPr sz="1050">
              <a:solidFill>
                <a:srgbClr val="10B98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</a:t>
            </a:r>
            <a:r>
              <a:rPr lang="en-US" sz="10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new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>
                <a:solidFill>
                  <a:srgbClr val="FACC1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@Override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editor.</a:t>
            </a:r>
            <a:r>
              <a:rPr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</a:t>
            </a: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Artık 'action' bir nesne!</a:t>
            </a:r>
            <a:endParaRPr sz="1050">
              <a:solidFill>
                <a:srgbClr val="10B98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list.</a:t>
            </a:r>
            <a:r>
              <a:rPr lang="en-US" sz="1050">
                <a:solidFill>
                  <a:srgbClr val="3B82F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add</a:t>
            </a: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(action); </a:t>
            </a:r>
            <a:r>
              <a:rPr lang="en-US" sz="10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Listeye ekle</a:t>
            </a:r>
            <a:endParaRPr sz="10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724400" y="1190625"/>
            <a:ext cx="40959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724400" y="1190625"/>
            <a:ext cx="4095900" cy="476400"/>
          </a:xfrm>
          <a:prstGeom prst="roundRect">
            <a:avLst>
              <a:gd fmla="val 24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4724400" y="1524000"/>
            <a:ext cx="4095900" cy="142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4914900" y="1190625"/>
            <a:ext cx="3714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Bu tam Command Pattern!</a:t>
            </a:r>
            <a:endParaRPr b="0" sz="15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4914900" y="1809750"/>
            <a:ext cx="37149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▸ Davranış nesnenin içine konuldu</a:t>
            </a:r>
            <a:endParaRPr b="1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editor.copy() artık hemen çalışmıyor</a:t>
            </a:r>
            <a:endParaRPr b="0"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▸ Nesne gibi taşınabilir</a:t>
            </a:r>
            <a:endParaRPr b="1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Listeye, thread'e, pool'a gidebilir</a:t>
            </a:r>
            <a:endParaRPr b="0"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▸ Hemen çalışmıyor</a:t>
            </a:r>
            <a:endParaRPr b="1" sz="1100">
              <a:solidFill>
                <a:srgbClr val="3B82F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run() çağrılana kadar bekler</a:t>
            </a:r>
            <a:endParaRPr b="0" sz="105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r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EF444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satır sadece 1 satır iş için...</a:t>
            </a:r>
            <a:endParaRPr b="0" i="1" sz="1100">
              <a:solidFill>
                <a:srgbClr val="EF4444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8477250" y="485775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438912" y="142875"/>
            <a:ext cx="54864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06 — JAVA 8 LAMBDA</a:t>
            </a:r>
            <a:endParaRPr b="1" sz="9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438912" y="381000"/>
            <a:ext cx="8229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Java 8 (2014): Lambda</a:t>
            </a:r>
            <a:endParaRPr b="0" sz="280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285750" y="1000125"/>
            <a:ext cx="4191000" cy="3619500"/>
          </a:xfrm>
          <a:prstGeom prst="roundRect">
            <a:avLst>
              <a:gd fmla="val 3157" name="adj"/>
            </a:avLst>
          </a:prstGeom>
          <a:solidFill>
            <a:srgbClr val="1E293B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476250" y="1095375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Java 7 → Java 8 Karşılaştırması</a:t>
            </a:r>
            <a:endParaRPr b="1" sz="1300">
              <a:solidFill>
                <a:srgbClr val="38BDF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476250" y="1524000"/>
            <a:ext cx="38100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Java 7: 8 satır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 </a:t>
            </a:r>
            <a:r>
              <a:rPr b="0" lang="en-US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 = new </a:t>
            </a: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@Override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F472B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b="0" lang="en-US" sz="9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editor.</a:t>
            </a:r>
            <a:r>
              <a:rPr b="0" lang="en-US" sz="9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Java 8: 1 satır lambda ✨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 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action = () -&gt; editor.</a:t>
            </a:r>
            <a:r>
              <a:rPr b="0" lang="en-US" sz="9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copy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Hazır fonksiyonel interface'ler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Function&lt;Str,Int&gt; 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 = s -&gt; s.</a:t>
            </a:r>
            <a:r>
              <a:rPr b="0" lang="en-US" sz="9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length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Consumer&lt;Str&gt; 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 = s -&gt; System.out.</a:t>
            </a:r>
            <a:r>
              <a:rPr b="0" lang="en-US" sz="95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println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(s);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225"/>
              </a:spcAft>
              <a:buNone/>
            </a:pPr>
            <a:r>
              <a:rPr b="0" lang="en-US" sz="950">
                <a:solidFill>
                  <a:srgbClr val="FDE68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Predicate&lt;Int&gt; </a:t>
            </a:r>
            <a:r>
              <a:rPr b="0" lang="en-US" sz="9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 = n -&gt; n &gt; 0;</a:t>
            </a:r>
            <a:endParaRPr b="0" sz="950">
              <a:solidFill>
                <a:srgbClr val="94A3B8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4667250" y="1000125"/>
            <a:ext cx="4191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"/>
          <p:cNvSpPr/>
          <p:nvPr/>
        </p:nvSpPr>
        <p:spPr>
          <a:xfrm>
            <a:off x="4857750" y="1095375"/>
            <a:ext cx="3810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Lambda Yeterli mi?</a:t>
            </a:r>
            <a:endParaRPr b="1" sz="1300">
              <a:solidFill>
                <a:srgbClr val="0EA5E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857750" y="1524000"/>
            <a:ext cx="3905400" cy="29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Peki Lambda Command'ı öldürdü mü?</a:t>
            </a:r>
            <a:endParaRPr b="0" i="1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Lambda: sadece execute</a:t>
            </a:r>
            <a:endParaRPr b="1" sz="950">
              <a:solidFill>
                <a:srgbClr val="0EA5E9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Runnable 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cut = () -&gt; editor.</a:t>
            </a:r>
            <a:r>
              <a:rPr b="0" lang="en-US" sz="95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cut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EF444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Undo nasıl? Bilmiyor. ❌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675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Command: execute + undo + state</a:t>
            </a:r>
            <a:endParaRPr b="1" sz="950">
              <a:solidFill>
                <a:srgbClr val="10B98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CutCommand </a:t>
            </a: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implements </a:t>
            </a:r>
            <a:r>
              <a:rPr b="0" lang="en-US" sz="950">
                <a:solidFill>
                  <a:srgbClr val="0369A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Command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private String 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backup;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boolean </a:t>
            </a:r>
            <a:r>
              <a:rPr b="0" lang="en-US" sz="95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backup = editor.getText();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editor.cut();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true;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BE185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public void </a:t>
            </a:r>
            <a:r>
              <a:rPr b="0" lang="en-US" sz="950">
                <a:solidFill>
                  <a:srgbClr val="0EA5E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undo</a:t>
            </a: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() {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editor.setText(backup); </a:t>
            </a:r>
            <a:r>
              <a:rPr b="0" lang="en-US" sz="950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✓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75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b="0" sz="950">
              <a:solidFill>
                <a:srgbClr val="64748B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"/>
          <p:cNvSpPr/>
          <p:nvPr/>
        </p:nvSpPr>
        <p:spPr>
          <a:xfrm>
            <a:off x="0" y="0"/>
            <a:ext cx="9144000" cy="504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438912" y="238125"/>
            <a:ext cx="5486400" cy="20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0C5A1"/>
                </a:solidFill>
                <a:latin typeface="Inter"/>
                <a:ea typeface="Inter"/>
                <a:cs typeface="Inter"/>
                <a:sym typeface="Inter"/>
              </a:rPr>
              <a:t>06 — LAMBDA VS COMMAND</a:t>
            </a:r>
            <a:endParaRPr b="1" sz="900">
              <a:solidFill>
                <a:srgbClr val="00C5A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438912" y="476250"/>
            <a:ext cx="822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960">
                <a:solidFill>
                  <a:srgbClr val="0D1B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 Zaman Hangisi?</a:t>
            </a:r>
            <a:endParaRPr b="0" sz="2960">
              <a:solidFill>
                <a:srgbClr val="0D1B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77" name="Google Shape;277;p15"/>
          <p:cNvGrpSpPr/>
          <p:nvPr/>
        </p:nvGrpSpPr>
        <p:grpSpPr>
          <a:xfrm>
            <a:off x="438150" y="1143000"/>
            <a:ext cx="3943200" cy="3238500"/>
            <a:chOff x="438150" y="1143000"/>
            <a:chExt cx="3943200" cy="3238500"/>
          </a:xfrm>
        </p:grpSpPr>
        <p:sp>
          <p:nvSpPr>
            <p:cNvPr id="278" name="Google Shape;278;p15"/>
            <p:cNvSpPr/>
            <p:nvPr/>
          </p:nvSpPr>
          <p:spPr>
            <a:xfrm>
              <a:off x="438150" y="1143000"/>
              <a:ext cx="39432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438150" y="1143000"/>
              <a:ext cx="3943200" cy="571500"/>
            </a:xfrm>
            <a:prstGeom prst="roundRect">
              <a:avLst>
                <a:gd fmla="val 26666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438150" y="1428750"/>
              <a:ext cx="3943200" cy="285900"/>
            </a:xfrm>
            <a:prstGeom prst="rect">
              <a:avLst/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 txBox="1"/>
            <p:nvPr/>
          </p:nvSpPr>
          <p:spPr>
            <a:xfrm>
              <a:off x="438150" y="1143000"/>
              <a:ext cx="39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Lambda / Callback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2" name="Google Shape;282;p15"/>
            <p:cNvSpPr txBox="1"/>
            <p:nvPr/>
          </p:nvSpPr>
          <p:spPr>
            <a:xfrm>
              <a:off x="723900" y="1905000"/>
              <a:ext cx="3372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✅ Sadece "çalıştır" (Simple execution)</a:t>
              </a:r>
              <a:endParaRPr b="1" sz="115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❌ Geri al (undo) yapılamaz</a:t>
              </a:r>
              <a:endParaRPr sz="11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❌ State tutmak mümkün değil</a:t>
              </a:r>
              <a:endParaRPr sz="11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❌ Serialize edilemez</a:t>
              </a:r>
              <a:endParaRPr sz="11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❌ Kuyruk/Kafka entegrasyonu yok</a:t>
              </a:r>
              <a:endParaRPr sz="11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3" name="Google Shape;283;p15"/>
          <p:cNvGrpSpPr/>
          <p:nvPr/>
        </p:nvGrpSpPr>
        <p:grpSpPr>
          <a:xfrm>
            <a:off x="4762500" y="1143000"/>
            <a:ext cx="3943200" cy="3238500"/>
            <a:chOff x="4762500" y="1143000"/>
            <a:chExt cx="3943200" cy="3238500"/>
          </a:xfrm>
        </p:grpSpPr>
        <p:sp>
          <p:nvSpPr>
            <p:cNvPr id="284" name="Google Shape;284;p15"/>
            <p:cNvSpPr/>
            <p:nvPr/>
          </p:nvSpPr>
          <p:spPr>
            <a:xfrm>
              <a:off x="4762500" y="1143000"/>
              <a:ext cx="3943200" cy="32385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4762500" y="1143000"/>
              <a:ext cx="3943200" cy="571500"/>
            </a:xfrm>
            <a:prstGeom prst="roundRect">
              <a:avLst>
                <a:gd fmla="val 26666" name="adj"/>
              </a:avLst>
            </a:prstGeom>
            <a:solidFill>
              <a:srgbClr val="00C5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762500" y="1428750"/>
              <a:ext cx="3943200" cy="285900"/>
            </a:xfrm>
            <a:prstGeom prst="rect">
              <a:avLst/>
            </a:prstGeom>
            <a:solidFill>
              <a:srgbClr val="00C5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 txBox="1"/>
            <p:nvPr/>
          </p:nvSpPr>
          <p:spPr>
            <a:xfrm>
              <a:off x="4762500" y="1143000"/>
              <a:ext cx="39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Command Sınıfı</a:t>
              </a:r>
              <a:endParaRPr b="1" sz="1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8" name="Google Shape;288;p15"/>
            <p:cNvSpPr txBox="1"/>
            <p:nvPr/>
          </p:nvSpPr>
          <p:spPr>
            <a:xfrm>
              <a:off x="5048250" y="1905000"/>
              <a:ext cx="3372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✅ Tam destek (Complex needs)</a:t>
              </a:r>
              <a:endParaRPr b="1" sz="115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D1B2A"/>
                  </a:solidFill>
                  <a:latin typeface="Inter"/>
                  <a:ea typeface="Inter"/>
                  <a:cs typeface="Inter"/>
                  <a:sym typeface="Inter"/>
                </a:rPr>
                <a:t>▸ Geri al (Undo) desteği</a:t>
              </a:r>
              <a:endParaRPr sz="115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D1B2A"/>
                  </a:solidFill>
                  <a:latin typeface="Inter"/>
                  <a:ea typeface="Inter"/>
                  <a:cs typeface="Inter"/>
                  <a:sym typeface="Inter"/>
                </a:rPr>
                <a:t>▸ State / Backup yönetimi</a:t>
              </a:r>
              <a:endParaRPr sz="115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D1B2A"/>
                  </a:solidFill>
                  <a:latin typeface="Inter"/>
                  <a:ea typeface="Inter"/>
                  <a:cs typeface="Inter"/>
                  <a:sym typeface="Inter"/>
                </a:rPr>
                <a:t>▸ Serialize &amp; DB/Ağ transferi</a:t>
              </a:r>
              <a:endParaRPr sz="115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D1B2A"/>
                  </a:solidFill>
                  <a:latin typeface="Inter"/>
                  <a:ea typeface="Inter"/>
                  <a:cs typeface="Inter"/>
                  <a:sym typeface="Inter"/>
                </a:rPr>
                <a:t>▸ Log / Audit takibi</a:t>
              </a:r>
              <a:endParaRPr sz="115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0D1B2A"/>
                  </a:solidFill>
                  <a:latin typeface="Inter"/>
                  <a:ea typeface="Inter"/>
                  <a:cs typeface="Inter"/>
                  <a:sym typeface="Inter"/>
                </a:rPr>
                <a:t>▸ Kuyruk / Kafka uyumluluğu</a:t>
              </a:r>
              <a:endParaRPr sz="1150">
                <a:solidFill>
                  <a:srgbClr val="0D1B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89" name="Google Shape;289;p15"/>
          <p:cNvSpPr/>
          <p:nvPr/>
        </p:nvSpPr>
        <p:spPr>
          <a:xfrm>
            <a:off x="438150" y="4572000"/>
            <a:ext cx="8267700" cy="381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438150" y="4572000"/>
            <a:ext cx="8267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Sadece "çalıştır" </a:t>
            </a:r>
            <a:r>
              <a:rPr b="0" lang="en-US" sz="1100">
                <a:solidFill>
                  <a:srgbClr val="00C5A1"/>
                </a:solidFill>
                <a:latin typeface="Inter Medium"/>
                <a:ea typeface="Inter Medium"/>
                <a:cs typeface="Inter Medium"/>
                <a:sym typeface="Inter Medium"/>
              </a:rPr>
              <a:t>→ lambda</a:t>
            </a:r>
            <a:r>
              <a:rPr b="0" lang="en-US" sz="1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. | "Çalıştır + geri al + logla + kuyruğa at" </a:t>
            </a:r>
            <a:r>
              <a:rPr b="0" lang="en-US" sz="1100">
                <a:solidFill>
                  <a:srgbClr val="00C5A1"/>
                </a:solidFill>
                <a:latin typeface="Inter Medium"/>
                <a:ea typeface="Inter Medium"/>
                <a:cs typeface="Inter Medium"/>
                <a:sym typeface="Inter Medium"/>
              </a:rPr>
              <a:t>→ Command sınıfı</a:t>
            </a:r>
            <a:r>
              <a:rPr b="0" lang="en-US" sz="1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.</a:t>
            </a:r>
            <a:endParaRPr b="0" sz="1100">
              <a:solidFill>
                <a:srgbClr val="FFFFFF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8732520" y="4892040"/>
            <a:ext cx="32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16"/>
          <p:cNvGrpSpPr/>
          <p:nvPr/>
        </p:nvGrpSpPr>
        <p:grpSpPr>
          <a:xfrm>
            <a:off x="381000" y="238125"/>
            <a:ext cx="8382000" cy="666900"/>
            <a:chOff x="381000" y="238125"/>
            <a:chExt cx="8382000" cy="666900"/>
          </a:xfrm>
        </p:grpSpPr>
        <p:sp>
          <p:nvSpPr>
            <p:cNvPr id="299" name="Google Shape;299;p16"/>
            <p:cNvSpPr txBox="1"/>
            <p:nvPr/>
          </p:nvSpPr>
          <p:spPr>
            <a:xfrm>
              <a:off x="381000" y="238125"/>
              <a:ext cx="8382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07 — GERÇEK PROJE: COMMANDLINERUNNER</a:t>
              </a:r>
              <a:endParaRPr b="1" sz="10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0" name="Google Shape;300;p16"/>
            <p:cNvSpPr txBox="1"/>
            <p:nvPr/>
          </p:nvSpPr>
          <p:spPr>
            <a:xfrm>
              <a:off x="381000" y="428625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80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Spring Boot'taki CommandLineRunner</a:t>
              </a:r>
              <a:endParaRPr b="0" sz="280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301" name="Google Shape;301;p16"/>
          <p:cNvGrpSpPr/>
          <p:nvPr/>
        </p:nvGrpSpPr>
        <p:grpSpPr>
          <a:xfrm>
            <a:off x="381000" y="1000125"/>
            <a:ext cx="8382000" cy="476400"/>
            <a:chOff x="381000" y="1000125"/>
            <a:chExt cx="8382000" cy="476400"/>
          </a:xfrm>
        </p:grpSpPr>
        <p:sp>
          <p:nvSpPr>
            <p:cNvPr id="302" name="Google Shape;302;p16"/>
            <p:cNvSpPr/>
            <p:nvPr/>
          </p:nvSpPr>
          <p:spPr>
            <a:xfrm>
              <a:off x="381000" y="1000125"/>
              <a:ext cx="8382000" cy="476400"/>
            </a:xfrm>
            <a:prstGeom prst="roundRect">
              <a:avLst>
                <a:gd fmla="val 16000" name="adj"/>
              </a:avLst>
            </a:prstGeom>
            <a:solidFill>
              <a:srgbClr val="F0F9FF"/>
            </a:solidFill>
            <a:ln cap="flat" cmpd="sng" w="9525">
              <a:solidFill>
                <a:srgbClr val="BAE6F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6"/>
            <p:cNvSpPr txBox="1"/>
            <p:nvPr/>
          </p:nvSpPr>
          <p:spPr>
            <a:xfrm>
              <a:off x="571500" y="1000125"/>
              <a:ext cx="8001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100">
                  <a:solidFill>
                    <a:srgbClr val="0369A1"/>
                  </a:solidFill>
                  <a:latin typeface="Inter"/>
                  <a:ea typeface="Inter"/>
                  <a:cs typeface="Inter"/>
                  <a:sym typeface="Inter"/>
                </a:rPr>
                <a:t>"Spring tamamen hazır olduktan sonra, ama HTTP istekleri almadan hemen önce bir şey çalıştırmak istiyorum."</a:t>
              </a:r>
              <a:endParaRPr b="0" i="1" sz="1100">
                <a:solidFill>
                  <a:srgbClr val="0369A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04" name="Google Shape;304;p16"/>
          <p:cNvGrpSpPr/>
          <p:nvPr/>
        </p:nvGrpSpPr>
        <p:grpSpPr>
          <a:xfrm>
            <a:off x="381000" y="1666875"/>
            <a:ext cx="2381400" cy="2857500"/>
            <a:chOff x="381000" y="1666875"/>
            <a:chExt cx="2381400" cy="2857500"/>
          </a:xfrm>
        </p:grpSpPr>
        <p:sp>
          <p:nvSpPr>
            <p:cNvPr id="305" name="Google Shape;305;p16"/>
            <p:cNvSpPr/>
            <p:nvPr/>
          </p:nvSpPr>
          <p:spPr>
            <a:xfrm>
              <a:off x="381000" y="1666875"/>
              <a:ext cx="2381400" cy="2857500"/>
            </a:xfrm>
            <a:prstGeom prst="roundRect">
              <a:avLst>
                <a:gd fmla="val 48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6"/>
            <p:cNvSpPr txBox="1"/>
            <p:nvPr/>
          </p:nvSpPr>
          <p:spPr>
            <a:xfrm>
              <a:off x="523875" y="1762125"/>
              <a:ext cx="2095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rPr>
                <a:t>Spring Başlangıç Sırası</a:t>
              </a:r>
              <a:endParaRPr b="1" sz="1100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7" name="Google Shape;307;p16"/>
            <p:cNvGrpSpPr/>
            <p:nvPr/>
          </p:nvGrpSpPr>
          <p:grpSpPr>
            <a:xfrm>
              <a:off x="523875" y="2047875"/>
              <a:ext cx="1847850" cy="333300"/>
              <a:chOff x="0" y="0"/>
              <a:chExt cx="1847850" cy="333300"/>
            </a:xfrm>
          </p:grpSpPr>
          <p:sp>
            <p:nvSpPr>
              <p:cNvPr id="308" name="Google Shape;308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b="1" sz="9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16"/>
              <p:cNvSpPr txBox="1"/>
              <p:nvPr/>
            </p:nvSpPr>
            <p:spPr>
              <a:xfrm>
                <a:off x="323850" y="0"/>
                <a:ext cx="1524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Bean'leri oluştur</a:t>
                </a:r>
                <a:endParaRPr b="0" sz="10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@Component, @Service...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1" name="Google Shape;311;p16"/>
            <p:cNvGrpSpPr/>
            <p:nvPr/>
          </p:nvGrpSpPr>
          <p:grpSpPr>
            <a:xfrm>
              <a:off x="523875" y="2476500"/>
              <a:ext cx="1847850" cy="333300"/>
              <a:chOff x="0" y="0"/>
              <a:chExt cx="1847850" cy="333300"/>
            </a:xfrm>
          </p:grpSpPr>
          <p:sp>
            <p:nvSpPr>
              <p:cNvPr id="312" name="Google Shape;312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b="1" sz="9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16"/>
              <p:cNvSpPr txBox="1"/>
              <p:nvPr/>
            </p:nvSpPr>
            <p:spPr>
              <a:xfrm>
                <a:off x="323850" y="0"/>
                <a:ext cx="1524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1E293B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@Autowired bağla</a:t>
                </a:r>
                <a:endParaRPr b="0" sz="1000">
                  <a:solidFill>
                    <a:srgbClr val="1E293B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Bağımlılıkları enjekte et</a:t>
                </a:r>
                <a:endParaRPr b="0" sz="8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5" name="Google Shape;315;p16"/>
            <p:cNvGrpSpPr/>
            <p:nvPr/>
          </p:nvGrpSpPr>
          <p:grpSpPr>
            <a:xfrm>
              <a:off x="523875" y="2905125"/>
              <a:ext cx="1847850" cy="381000"/>
              <a:chOff x="0" y="0"/>
              <a:chExt cx="1847850" cy="381000"/>
            </a:xfrm>
          </p:grpSpPr>
          <p:sp>
            <p:nvSpPr>
              <p:cNvPr id="316" name="Google Shape;316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0EA5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b="1" sz="9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16"/>
              <p:cNvSpPr txBox="1"/>
              <p:nvPr/>
            </p:nvSpPr>
            <p:spPr>
              <a:xfrm>
                <a:off x="323850" y="0"/>
                <a:ext cx="1524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Runner'ları çalıştır</a:t>
                </a:r>
                <a:endParaRPr b="1" sz="10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0EA5E9"/>
                    </a:solidFill>
                    <a:latin typeface="Inter"/>
                    <a:ea typeface="Inter"/>
                    <a:cs typeface="Inter"/>
                    <a:sym typeface="Inter"/>
                  </a:rPr>
                  <a:t>← SENİN KODUN BURADA</a:t>
                </a:r>
                <a:endParaRPr b="1" sz="800">
                  <a:solidFill>
                    <a:srgbClr val="0EA5E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19" name="Google Shape;319;p16"/>
            <p:cNvGrpSpPr/>
            <p:nvPr/>
          </p:nvGrpSpPr>
          <p:grpSpPr>
            <a:xfrm>
              <a:off x="523875" y="3381375"/>
              <a:ext cx="1847850" cy="333300"/>
              <a:chOff x="0" y="0"/>
              <a:chExt cx="1847850" cy="333300"/>
            </a:xfrm>
          </p:grpSpPr>
          <p:sp>
            <p:nvSpPr>
              <p:cNvPr id="320" name="Google Shape;320;p16"/>
              <p:cNvSpPr/>
              <p:nvPr/>
            </p:nvSpPr>
            <p:spPr>
              <a:xfrm>
                <a:off x="0" y="0"/>
                <a:ext cx="228600" cy="228600"/>
              </a:xfrm>
              <a:prstGeom prst="ellipse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6"/>
              <p:cNvSpPr txBox="1"/>
              <p:nvPr/>
            </p:nvSpPr>
            <p:spPr>
              <a:xfrm>
                <a:off x="0" y="0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4</a:t>
                </a:r>
                <a:endParaRPr b="1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2" name="Google Shape;322;p16"/>
              <p:cNvSpPr txBox="1"/>
              <p:nvPr/>
            </p:nvSpPr>
            <p:spPr>
              <a:xfrm>
                <a:off x="323850" y="0"/>
                <a:ext cx="1524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000">
                    <a:solidFill>
                      <a:srgbClr val="94A3B8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HTTP'ye aç</a:t>
                </a:r>
                <a:endParaRPr b="0" sz="1000">
                  <a:solidFill>
                    <a:srgbClr val="94A3B8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8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İstekleri almaya başla</a:t>
                </a:r>
                <a:endParaRPr b="0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3" name="Google Shape;323;p16"/>
          <p:cNvGrpSpPr/>
          <p:nvPr/>
        </p:nvGrpSpPr>
        <p:grpSpPr>
          <a:xfrm>
            <a:off x="2905125" y="1666875"/>
            <a:ext cx="3810000" cy="2857500"/>
            <a:chOff x="2905125" y="1666875"/>
            <a:chExt cx="3810000" cy="2857500"/>
          </a:xfrm>
        </p:grpSpPr>
        <p:sp>
          <p:nvSpPr>
            <p:cNvPr id="324" name="Google Shape;324;p16"/>
            <p:cNvSpPr/>
            <p:nvPr/>
          </p:nvSpPr>
          <p:spPr>
            <a:xfrm>
              <a:off x="2905125" y="1666875"/>
              <a:ext cx="3810000" cy="2857500"/>
            </a:xfrm>
            <a:prstGeom prst="roundRect">
              <a:avLst>
                <a:gd fmla="val 4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6"/>
            <p:cNvSpPr txBox="1"/>
            <p:nvPr/>
          </p:nvSpPr>
          <p:spPr>
            <a:xfrm>
              <a:off x="3095625" y="1762125"/>
              <a:ext cx="3429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DataLoader.java</a:t>
              </a:r>
              <a:endParaRPr b="1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  <p:sp>
          <p:nvSpPr>
            <p:cNvPr id="326" name="Google Shape;326;p16"/>
            <p:cNvSpPr txBox="1"/>
            <p:nvPr/>
          </p:nvSpPr>
          <p:spPr>
            <a:xfrm>
              <a:off x="3095625" y="2047875"/>
              <a:ext cx="3429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@Component</a:t>
              </a:r>
              <a:endParaRPr b="0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818C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@Order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(2)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class </a:t>
              </a:r>
              <a:r>
                <a:rPr b="0" lang="en-US" sz="90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DataLoader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implements </a:t>
              </a:r>
              <a:r>
                <a:rPr b="0" lang="en-US" sz="90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CommandLineRunner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{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@Autowired</a:t>
              </a:r>
              <a:endParaRPr b="0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private </a:t>
              </a:r>
              <a:r>
                <a:rPr b="0" lang="en-US" sz="90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UserRepository 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repo;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8BDF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@Override</a:t>
              </a:r>
              <a:endParaRPr b="0" sz="9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public void </a:t>
              </a:r>
              <a:r>
                <a:rPr b="0" lang="en-US" sz="90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run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(String... args) {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if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 (repo.</a:t>
              </a:r>
              <a:r>
                <a:rPr b="0" lang="en-US" sz="90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count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() == 0) {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repo.</a:t>
              </a:r>
              <a:r>
                <a:rPr b="0" lang="en-US" sz="900">
                  <a:solidFill>
                    <a:srgbClr val="E2E8F0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save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</a:t>
              </a:r>
              <a:r>
                <a:rPr b="0" lang="en-US" sz="900">
                  <a:solidFill>
                    <a:srgbClr val="F472B6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new </a:t>
              </a:r>
              <a:r>
                <a:rPr b="0" lang="en-US" sz="900">
                  <a:solidFill>
                    <a:srgbClr val="FDE68A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User</a:t>
              </a: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("admin"));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94A3B8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}</a:t>
              </a:r>
              <a:endParaRPr b="0" sz="90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grpSp>
        <p:nvGrpSpPr>
          <p:cNvPr id="327" name="Google Shape;327;p16"/>
          <p:cNvGrpSpPr/>
          <p:nvPr/>
        </p:nvGrpSpPr>
        <p:grpSpPr>
          <a:xfrm>
            <a:off x="6858000" y="1666875"/>
            <a:ext cx="2000100" cy="2857500"/>
            <a:chOff x="6858000" y="1666875"/>
            <a:chExt cx="2000100" cy="2857500"/>
          </a:xfrm>
        </p:grpSpPr>
        <p:sp>
          <p:nvSpPr>
            <p:cNvPr id="328" name="Google Shape;328;p16"/>
            <p:cNvSpPr/>
            <p:nvPr/>
          </p:nvSpPr>
          <p:spPr>
            <a:xfrm>
              <a:off x="6858000" y="1666875"/>
              <a:ext cx="2000100" cy="28575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6"/>
            <p:cNvSpPr txBox="1"/>
            <p:nvPr/>
          </p:nvSpPr>
          <p:spPr>
            <a:xfrm>
              <a:off x="7000875" y="1762125"/>
              <a:ext cx="1714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Pattern Eşleşmesi</a:t>
              </a:r>
              <a:endParaRPr b="1" sz="11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0" name="Google Shape;330;p16"/>
            <p:cNvSpPr txBox="1"/>
            <p:nvPr/>
          </p:nvSpPr>
          <p:spPr>
            <a:xfrm>
              <a:off x="7000875" y="2047875"/>
              <a:ext cx="1714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Command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= CommandLineRunner</a:t>
              </a:r>
              <a:endParaRPr b="0" sz="8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execute()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= run()</a:t>
              </a:r>
              <a:endParaRPr b="0" sz="8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Invoker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= Spring context</a:t>
              </a:r>
              <a:endParaRPr b="0" sz="8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ConcreteCmd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= DataLoader</a:t>
              </a:r>
              <a:endParaRPr b="0" sz="8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6366F1"/>
                  </a:solidFill>
                  <a:latin typeface="Inter"/>
                  <a:ea typeface="Inter"/>
                  <a:cs typeface="Inter"/>
                  <a:sym typeface="Inter"/>
                </a:rPr>
                <a:t>Receiver</a:t>
              </a:r>
              <a:endParaRPr b="1" sz="10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850">
                  <a:solidFill>
                    <a:srgbClr val="475569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= UserRepository</a:t>
              </a:r>
              <a:endParaRPr b="0" sz="850">
                <a:solidFill>
                  <a:srgbClr val="475569"/>
                </a:solidFill>
                <a:latin typeface="JetBrains Mono"/>
                <a:ea typeface="JetBrains Mono"/>
                <a:cs typeface="JetBrains Mono"/>
                <a:sym typeface="JetBrains Mono"/>
              </a:endParaRPr>
            </a:p>
          </p:txBody>
        </p:sp>
      </p:grpSp>
      <p:sp>
        <p:nvSpPr>
          <p:cNvPr id="331" name="Google Shape;331;p16"/>
          <p:cNvSpPr txBox="1"/>
          <p:nvPr/>
        </p:nvSpPr>
        <p:spPr>
          <a:xfrm>
            <a:off x="8382000" y="4762500"/>
            <a:ext cx="38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sz="9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381000" y="10001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Teşekkürler!</a:t>
            </a:r>
            <a:endParaRPr b="0" sz="5600">
              <a:solidFill>
                <a:srgbClr val="FFFFFF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C5A1"/>
                </a:solidFill>
                <a:latin typeface="Inter"/>
                <a:ea typeface="Inter"/>
                <a:cs typeface="Inter"/>
                <a:sym typeface="Inter"/>
              </a:rPr>
              <a:t>Sorularınız var mı?</a:t>
            </a:r>
            <a:endParaRPr b="0" sz="1800">
              <a:solidFill>
                <a:srgbClr val="00C5A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75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FFFF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Yasin BÜZGÜLÜ</a:t>
            </a:r>
            <a:endParaRPr b="0" sz="1400">
              <a:solidFill>
                <a:srgbClr val="FFFFFF"/>
              </a:solidFill>
              <a:latin typeface="JetBrains Mono SemiBold"/>
              <a:ea typeface="JetBrains Mono SemiBold"/>
              <a:cs typeface="JetBrains Mono SemiBold"/>
              <a:sym typeface="JetBrains Mono SemiBold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C5A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0" name="Google Shape;340;p17"/>
          <p:cNvGrpSpPr/>
          <p:nvPr/>
        </p:nvGrpSpPr>
        <p:grpSpPr>
          <a:xfrm>
            <a:off x="2190750" y="4000500"/>
            <a:ext cx="4762500" cy="571500"/>
            <a:chOff x="2190750" y="4000500"/>
            <a:chExt cx="4762500" cy="571500"/>
          </a:xfrm>
        </p:grpSpPr>
        <p:sp>
          <p:nvSpPr>
            <p:cNvPr id="341" name="Google Shape;341;p17"/>
            <p:cNvSpPr/>
            <p:nvPr/>
          </p:nvSpPr>
          <p:spPr>
            <a:xfrm>
              <a:off x="2190750" y="4000500"/>
              <a:ext cx="4762500" cy="571500"/>
            </a:xfrm>
            <a:prstGeom prst="roundRect">
              <a:avLst>
                <a:gd fmla="val 50000" name="adj"/>
              </a:avLst>
            </a:prstGeom>
            <a:solidFill>
              <a:srgbClr val="152232">
                <a:alpha val="80000"/>
              </a:srgbClr>
            </a:solidFill>
            <a:ln cap="flat" cmpd="sng" w="9525">
              <a:solidFill>
                <a:srgbClr val="00C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7"/>
            <p:cNvSpPr txBox="1"/>
            <p:nvPr/>
          </p:nvSpPr>
          <p:spPr>
            <a:xfrm>
              <a:off x="2190750" y="400050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Command Pattern: İsteği nesneye dönüştür, tetikleyeni ayır, geçmişi yönet.</a:t>
              </a:r>
              <a:endParaRPr sz="1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